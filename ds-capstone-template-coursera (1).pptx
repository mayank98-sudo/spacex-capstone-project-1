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2"/>
  </p:notesMasterIdLst>
  <p:handoutMasterIdLst>
    <p:handoutMasterId r:id="rId53"/>
  </p:handoutMasterIdLst>
  <p:sldIdLst>
    <p:sldId id="327" r:id="rId5"/>
    <p:sldId id="330" r:id="rId6"/>
    <p:sldId id="331" r:id="rId7"/>
    <p:sldId id="332" r:id="rId8"/>
    <p:sldId id="298" r:id="rId9"/>
    <p:sldId id="262" r:id="rId10"/>
    <p:sldId id="263" r:id="rId11"/>
    <p:sldId id="299" r:id="rId12"/>
    <p:sldId id="302" r:id="rId13"/>
    <p:sldId id="264" r:id="rId14"/>
    <p:sldId id="266" r:id="rId15"/>
    <p:sldId id="265" r:id="rId16"/>
    <p:sldId id="276" r:id="rId17"/>
    <p:sldId id="303" r:id="rId18"/>
    <p:sldId id="293" r:id="rId19"/>
    <p:sldId id="277" r:id="rId20"/>
    <p:sldId id="284" r:id="rId21"/>
    <p:sldId id="269" r:id="rId22"/>
    <p:sldId id="304" r:id="rId23"/>
    <p:sldId id="305" r:id="rId24"/>
    <p:sldId id="307" r:id="rId25"/>
    <p:sldId id="306" r:id="rId26"/>
    <p:sldId id="308" r:id="rId27"/>
    <p:sldId id="270" r:id="rId28"/>
    <p:sldId id="309" r:id="rId29"/>
    <p:sldId id="310" r:id="rId30"/>
    <p:sldId id="311" r:id="rId31"/>
    <p:sldId id="312" r:id="rId32"/>
    <p:sldId id="314" r:id="rId33"/>
    <p:sldId id="313" r:id="rId34"/>
    <p:sldId id="315" r:id="rId35"/>
    <p:sldId id="316" r:id="rId36"/>
    <p:sldId id="317" r:id="rId37"/>
    <p:sldId id="294" r:id="rId38"/>
    <p:sldId id="296" r:id="rId39"/>
    <p:sldId id="318" r:id="rId40"/>
    <p:sldId id="319" r:id="rId41"/>
    <p:sldId id="321" r:id="rId42"/>
    <p:sldId id="322" r:id="rId43"/>
    <p:sldId id="323" r:id="rId44"/>
    <p:sldId id="324" r:id="rId45"/>
    <p:sldId id="288" r:id="rId46"/>
    <p:sldId id="289" r:id="rId47"/>
    <p:sldId id="320" r:id="rId48"/>
    <p:sldId id="274" r:id="rId49"/>
    <p:sldId id="275" r:id="rId50"/>
    <p:sldId id="329" r:id="rId51"/>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varScale="1">
        <p:scale>
          <a:sx n="59" d="100"/>
          <a:sy n="59" d="100"/>
        </p:scale>
        <p:origin x="1362"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8/26/2026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46</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8/26/2026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ayank98-sudo/SpaceX-Capstone-Project/blob/main/jupyter-labs-spacex-data-collection-api.ipynb"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ayank98-sudo/SpaceXCapstoneProject/blob/9183fd46e228a70595ecb863d8b1195087362e30/labs-jupyter-spacex-Data%20wrangl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ayank98sudo/SpaceXCapstoneProject/blob/9183fd46e228a70595ecb863d8b1195087362e30/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&lt;MAYANK RAJ&gt;</a:t>
            </a:r>
          </a:p>
          <a:p>
            <a:r>
              <a:rPr lang="en-US" dirty="0">
                <a:solidFill>
                  <a:schemeClr val="bg2"/>
                </a:solidFill>
                <a:latin typeface="Abadi" panose="020B0604020104020204" pitchFamily="34" charset="0"/>
                <a:ea typeface="SF Pro" pitchFamily="2" charset="0"/>
                <a:cs typeface="SF Pro" pitchFamily="2" charset="0"/>
              </a:rPr>
              <a:t>&lt;26/08/2026&gt;</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770011" y="1850000"/>
            <a:ext cx="10650000" cy="4200000"/>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Methodology: collected ~90 Falcon 9 launch records (2010-2020) via the SpaceX REST API and Wikipedia web scraping, wrangled and labeled landing outcomes, explored the data with visualization and SQL, built an interactive Folium map and Plotly Dash dashboard, then trained four classification models to predict first-stage landing success.</a:t>
            </a:r>
          </a:p>
          <a:p>
            <a:pPr>
              <a:lnSpc>
                <a:spcPct val="100000"/>
              </a:lnSpc>
              <a:spcBef>
                <a:spcPts val="1400"/>
              </a:spcBef>
            </a:pPr>
            <a:r>
              <a:rPr lang="en-US" sz="2200" dirty="0">
                <a:solidFill>
                  <a:schemeClr val="accent3">
                    <a:lumMod val="25000"/>
                  </a:schemeClr>
                </a:solidFill>
                <a:latin typeface="Abadi" panose="020B0604020104020204" pitchFamily="34" charset="0"/>
              </a:rPr>
              <a:t>Results: landing success rose from 0% in 2010-2013 to ~84-90% by 2019-2020; KSC LC-39A (77.3%) and VAFB SLC-4E (76.9%) had the best per-site success rates; low-demand orbits landed 100% of the time vs. 51.9% for GTO; the best tuned classifier reached 87.7% cross-validation accuracy and 83.3% test accuracy.</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6" y="1572190"/>
            <a:ext cx="8547613" cy="48550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a:spcBef>
                <a:spcPts val="1400"/>
              </a:spcBef>
            </a:pPr>
            <a:r>
              <a:rPr lang="en-US" sz="2200" dirty="0">
                <a:solidFill>
                  <a:schemeClr val="accent3">
                    <a:lumMod val="25000"/>
                  </a:schemeClr>
                </a:solidFill>
                <a:latin typeface="Abadi" panose="020B0604020104020204" pitchFamily="34" charset="0"/>
              </a:rPr>
              <a:t>SpaceX advertises Falcon 9 launches at $62 million, versus $165M+ from other providers, largely because it reuses the rocket's first stage instead of discarding it.</a:t>
            </a:r>
          </a:p>
          <a:p>
            <a:pPr algn="just">
              <a:spcBef>
                <a:spcPts val="1400"/>
              </a:spcBef>
            </a:pPr>
            <a:r>
              <a:rPr lang="en-US" sz="2200" dirty="0">
                <a:solidFill>
                  <a:schemeClr val="accent3">
                    <a:lumMod val="25000"/>
                  </a:schemeClr>
                </a:solidFill>
                <a:latin typeface="Abadi" panose="020B0604020104020204" pitchFamily="34" charset="0"/>
              </a:rPr>
              <a:t>If we can predict whether the first stage will land successfully, we can estimate the true cost of a given SpaceX launch — information a competing launch provider could use to bid against SpaceX.</a:t>
            </a:r>
          </a:p>
          <a:p>
            <a:pPr algn="just">
              <a:spcBef>
                <a:spcPts val="1400"/>
              </a:spcBef>
            </a:pPr>
            <a:r>
              <a:rPr lang="en-US" sz="2200" dirty="0">
                <a:solidFill>
                  <a:schemeClr val="accent3">
                    <a:lumMod val="25000"/>
                  </a:schemeClr>
                </a:solidFill>
                <a:latin typeface="Abadi" panose="020B0604020104020204" pitchFamily="34" charset="0"/>
              </a:rPr>
              <a:t>Question this project answers: which pre-launch factors (payload mass, orbit, launch site, booster version, flight history) predict a successful first-stage landing, and how accurately can we predict it?</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Data collection methodology:</a:t>
            </a:r>
          </a:p>
          <a:p>
            <a:pPr lvl="1">
              <a:lnSpc>
                <a:spcPct val="120000"/>
              </a:lnSpc>
              <a:spcBef>
                <a:spcPts val="1400"/>
              </a:spcBef>
            </a:pPr>
            <a:r>
              <a:rPr lang="en-US" sz="7600" dirty="0">
                <a:solidFill>
                  <a:schemeClr val="bg2">
                    <a:lumMod val="50000"/>
                  </a:schemeClr>
                </a:solidFill>
                <a:latin typeface="Abadi"/>
              </a:rPr>
              <a:t>Combined the SpaceX REST API (structured JSON) with Wikipedia web scraping (HTML tables) to assemble launch records</a:t>
            </a:r>
          </a:p>
          <a:p>
            <a:pPr marL="0" indent="0">
              <a:lnSpc>
                <a:spcPct val="120000"/>
              </a:lnSpc>
              <a:spcBef>
                <a:spcPts val="1400"/>
              </a:spcBef>
              <a:buNone/>
            </a:pPr>
            <a:r>
              <a:rPr lang="en-US" sz="8800" dirty="0">
                <a:solidFill>
                  <a:srgbClr val="0B49CB"/>
                </a:solidFill>
                <a:latin typeface="Abadi"/>
              </a:rPr>
              <a:t>Perform data wrangling</a:t>
            </a:r>
          </a:p>
          <a:p>
            <a:pPr lvl="1">
              <a:lnSpc>
                <a:spcPct val="120000"/>
              </a:lnSpc>
              <a:spcBef>
                <a:spcPts val="1400"/>
              </a:spcBef>
            </a:pPr>
            <a:r>
              <a:rPr lang="en-US" sz="7600" dirty="0">
                <a:solidFill>
                  <a:schemeClr val="bg2">
                    <a:lumMod val="50000"/>
                  </a:schemeClr>
                </a:solidFill>
                <a:latin typeface="Abadi"/>
              </a:rPr>
              <a:t>Filled missing payload-mass values, and labeled each launch Class = 1 (successful landing) or 0 (not)</a:t>
            </a:r>
          </a:p>
          <a:p>
            <a:pPr marL="0" indent="0">
              <a:lnSpc>
                <a:spcPct val="120000"/>
              </a:lnSpc>
              <a:spcBef>
                <a:spcPts val="1400"/>
              </a:spcBef>
              <a:buNone/>
            </a:pPr>
            <a:r>
              <a:rPr lang="en-US" sz="8800" dirty="0">
                <a:solidFill>
                  <a:srgbClr val="0B49CB"/>
                </a:solidFill>
                <a:latin typeface="Abadi"/>
              </a:rPr>
              <a:t>Perform exploratory data analysis (EDA) using visualization and SQL</a:t>
            </a:r>
          </a:p>
          <a:p>
            <a:pPr marL="0" indent="0">
              <a:lnSpc>
                <a:spcPct val="120000"/>
              </a:lnSpc>
              <a:spcBef>
                <a:spcPts val="1400"/>
              </a:spcBef>
              <a:buNone/>
            </a:pPr>
            <a:r>
              <a:rPr lang="en-US" sz="8800" dirty="0">
                <a:solidFill>
                  <a:srgbClr val="0B49CB"/>
                </a:solidFill>
                <a:latin typeface="Abadi"/>
              </a:rPr>
              <a:t>Perform interactive visual analytics using Folium and Plotly Dash</a:t>
            </a:r>
          </a:p>
          <a:p>
            <a:pPr marL="0" indent="0">
              <a:lnSpc>
                <a:spcPct val="120000"/>
              </a:lnSpc>
              <a:spcBef>
                <a:spcPts val="1400"/>
              </a:spcBef>
              <a:buNone/>
            </a:pPr>
            <a:r>
              <a:rPr lang="en-US" sz="8800" dirty="0">
                <a:solidFill>
                  <a:srgbClr val="0B49CB"/>
                </a:solidFill>
                <a:latin typeface="Abadi"/>
              </a:rPr>
              <a:t>Perform predictive analysis using classification models</a:t>
            </a:r>
          </a:p>
          <a:p>
            <a:pPr lvl="1">
              <a:lnSpc>
                <a:spcPct val="120000"/>
              </a:lnSpc>
              <a:spcBef>
                <a:spcPts val="1400"/>
              </a:spcBef>
            </a:pPr>
            <a:r>
              <a:rPr lang="en-US" sz="7600" dirty="0">
                <a:solidFill>
                  <a:schemeClr val="bg2">
                    <a:lumMod val="50000"/>
                  </a:schemeClr>
                </a:solidFill>
                <a:latin typeface="Abadi"/>
              </a:rPr>
              <a:t>Logistic Regression, SVM, Decision Tree and KNN, tuned with GridSearchCV (10-fold CV)</a:t>
            </a: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515600" cy="4351338"/>
          </a:xfrm>
          <a:prstGeom prst="rect">
            <a:avLst/>
          </a:prstGeom>
        </p:spPr>
        <p:txBody>
          <a:bodyPr/>
          <a:lstStyle/>
          <a:p>
            <a:pPr>
              <a:lnSpc>
                <a:spcPct val="100000"/>
              </a:lnSpc>
              <a:spcBef>
                <a:spcPts val="1400"/>
              </a:spcBef>
            </a:pPr>
            <a:r>
              <a:rPr lang="en-US" sz="2200">
                <a:solidFill>
                  <a:schemeClr val="accent3">
                    <a:lumMod val="25000"/>
                  </a:schemeClr>
                </a:solidFill>
                <a:latin typeface="Abadi" panose="020B0604020104020204" pitchFamily="34" charset="0"/>
              </a:rPr>
              <a:t>Launch records were assembled from two independent public sources:</a:t>
            </a:r>
          </a:p>
          <a:p>
            <a:pPr>
              <a:lnSpc>
                <a:spcPct val="100000"/>
              </a:lnSpc>
              <a:spcBef>
                <a:spcPts val="1400"/>
              </a:spcBef>
            </a:pPr>
            <a:r>
              <a:rPr lang="en-US" sz="2200">
                <a:solidFill>
                  <a:schemeClr val="accent3">
                    <a:lumMod val="25000"/>
                  </a:schemeClr>
                </a:solidFill>
                <a:latin typeface="Abadi" panose="020B0604020104020204" pitchFamily="34" charset="0"/>
              </a:rPr>
              <a:t>SpaceX's public REST API (api.spacexdata.com) — structured JSON per launch covering rocket, payload, launch site and core/landing outcome</a:t>
            </a:r>
          </a:p>
          <a:p>
            <a:pPr>
              <a:lnSpc>
                <a:spcPct val="100000"/>
              </a:lnSpc>
              <a:spcBef>
                <a:spcPts val="1400"/>
              </a:spcBef>
            </a:pPr>
            <a:r>
              <a:rPr lang="en-US" sz="2200">
                <a:solidFill>
                  <a:schemeClr val="accent3">
                    <a:lumMod val="25000"/>
                  </a:schemeClr>
                </a:solidFill>
                <a:latin typeface="Abadi" panose="020B0604020104020204" pitchFamily="34" charset="0"/>
              </a:rPr>
              <a:t>Wikipedia's “List of Falcon 9 and Falcon Heavy launches” — an HTML table scraped with BeautifulSoup</a:t>
            </a:r>
          </a:p>
          <a:p>
            <a:pPr>
              <a:lnSpc>
                <a:spcPct val="100000"/>
              </a:lnSpc>
              <a:spcBef>
                <a:spcPts val="1400"/>
              </a:spcBef>
            </a:pPr>
            <a:r>
              <a:rPr lang="en-US" sz="2200">
                <a:solidFill>
                  <a:schemeClr val="accent3">
                    <a:lumMod val="25000"/>
                  </a:schemeClr>
                </a:solidFill>
                <a:latin typeface="Abadi" panose="020B0604020104020204" pitchFamily="34" charset="0"/>
              </a:rPr>
              <a:t>Both sources were parsed into pandas DataFrames, filtered to Falcon 9 launches only, and combined into a single ~90-row dataset spanning June 2010 to November 2020</a:t>
            </a:r>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p>
            <a:pPr marL="0" indent="0">
              <a:buNone/>
            </a:pPr>
            <a:endParaRPr lang="en-US" sz="2200" dirty="0">
              <a:solidFill>
                <a:srgbClr val="1C7DDB"/>
              </a:solidFill>
              <a:latin typeface="Abadi"/>
            </a:endParaRPr>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334240" y="1316037"/>
            <a:ext cx="5576021" cy="4656716"/>
          </a:xfrm>
          <a:prstGeom prst="rect">
            <a:avLst/>
          </a:prstGeom>
        </p:spPr>
        <p:txBody>
          <a:bodyPr vert="horz" lIns="91440" tIns="45720" rIns="91440" bIns="45720" rtlCol="0" anchor="t">
            <a:normAutofit fontScale="92500" lnSpcReduction="2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Sent GET requests to the SpaceX v4 REST API (api.spacexdata.com/v4/launches/past)</a:t>
            </a:r>
          </a:p>
          <a:p>
            <a:pPr>
              <a:lnSpc>
                <a:spcPct val="100000"/>
              </a:lnSpc>
              <a:spcBef>
                <a:spcPts val="1400"/>
              </a:spcBef>
            </a:pPr>
            <a:r>
              <a:rPr lang="en-US" sz="2200" dirty="0">
                <a:solidFill>
                  <a:schemeClr val="accent3">
                    <a:lumMod val="25000"/>
                  </a:schemeClr>
                </a:solidFill>
                <a:latin typeface="Abadi" panose="020B0604020104020204" pitchFamily="34" charset="0"/>
              </a:rPr>
              <a:t>Parsed the JSON response into a pandas </a:t>
            </a:r>
            <a:r>
              <a:rPr lang="en-US" sz="2200" dirty="0" err="1">
                <a:solidFill>
                  <a:schemeClr val="accent3">
                    <a:lumMod val="25000"/>
                  </a:schemeClr>
                </a:solidFill>
                <a:latin typeface="Abadi" panose="020B0604020104020204" pitchFamily="34" charset="0"/>
              </a:rPr>
              <a:t>DataFrame</a:t>
            </a:r>
            <a:r>
              <a:rPr lang="en-US" sz="2200" dirty="0">
                <a:solidFill>
                  <a:schemeClr val="accent3">
                    <a:lumMod val="25000"/>
                  </a:schemeClr>
                </a:solidFill>
                <a:latin typeface="Abadi" panose="020B0604020104020204" pitchFamily="34" charset="0"/>
              </a:rPr>
              <a:t>, then used the rocket, payload, launchpad and core IDs to look up booster version, payload mass/orbit, launch-site coordinates and landing outcome via follow-up API calls</a:t>
            </a:r>
          </a:p>
          <a:p>
            <a:pPr>
              <a:lnSpc>
                <a:spcPct val="100000"/>
              </a:lnSpc>
              <a:spcBef>
                <a:spcPts val="1400"/>
              </a:spcBef>
            </a:pPr>
            <a:r>
              <a:rPr lang="en-US" sz="2200" dirty="0">
                <a:solidFill>
                  <a:schemeClr val="accent3">
                    <a:lumMod val="25000"/>
                  </a:schemeClr>
                </a:solidFill>
                <a:latin typeface="Abadi" panose="020B0604020104020204" pitchFamily="34" charset="0"/>
              </a:rPr>
              <a:t>Filtered to Falcon 9 launches, filled missing payload-mass values with the column mean, and exported the cleaned records to CSV</a:t>
            </a:r>
          </a:p>
          <a:p>
            <a:pPr>
              <a:lnSpc>
                <a:spcPct val="100000"/>
              </a:lnSpc>
              <a:spcBef>
                <a:spcPts val="1400"/>
              </a:spcBef>
            </a:pPr>
            <a:r>
              <a:rPr lang="en-US" sz="2200" dirty="0">
                <a:solidFill>
                  <a:schemeClr val="accent3">
                    <a:lumMod val="25000"/>
                  </a:schemeClr>
                </a:solidFill>
                <a:latin typeface="Abadi" panose="020B0604020104020204" pitchFamily="34" charset="0"/>
              </a:rPr>
              <a:t>GitHub: </a:t>
            </a:r>
            <a:r>
              <a:rPr lang="en-US" sz="2200" dirty="0">
                <a:solidFill>
                  <a:schemeClr val="accent3">
                    <a:lumMod val="25000"/>
                  </a:schemeClr>
                </a:solidFill>
                <a:latin typeface="Abadi" panose="020B0604020104020204" pitchFamily="34" charset="0"/>
                <a:hlinkClick r:id="rId3"/>
              </a:rPr>
              <a:t>https://github.com/Mayank98-sudo/SpaceX-Capstone-Project/blob/main/jupyter-labs-spacex-data-collection-api.ipynb</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652462" y="487662"/>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pic>
        <p:nvPicPr>
          <p:cNvPr id="7" name="Picture 6" descr="flow_api.png"/>
          <p:cNvPicPr>
            <a:picLocks noChangeAspect="1"/>
          </p:cNvPicPr>
          <p:nvPr/>
        </p:nvPicPr>
        <p:blipFill>
          <a:blip r:embed="rId4"/>
          <a:stretch>
            <a:fillRect/>
          </a:stretch>
        </p:blipFill>
        <p:spPr>
          <a:xfrm>
            <a:off x="5906023" y="1765878"/>
            <a:ext cx="6285977" cy="4206875"/>
          </a:xfrm>
          <a:prstGeom prst="rect">
            <a:avLst/>
          </a:prstGeom>
        </p:spPr>
      </p:pic>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1" y="1650437"/>
            <a:ext cx="4598495" cy="4774451"/>
          </a:xfrm>
          <a:prstGeom prst="rect">
            <a:avLst/>
          </a:prstGeom>
        </p:spPr>
        <p:txBody>
          <a:bodyPr lIns="91440" tIns="45720" rIns="91440" bIns="45720" anchor="t">
            <a:noAutofit/>
          </a:bodyPr>
          <a:lstStyle/>
          <a:p>
            <a:pPr lvl="0"/>
            <a:r>
              <a:rPr lang="en-US" sz="2000" dirty="0"/>
              <a:t>Utilized the </a:t>
            </a:r>
            <a:r>
              <a:rPr lang="en-US" sz="2000" dirty="0" err="1"/>
              <a:t>BeautifulSoup</a:t>
            </a:r>
            <a:r>
              <a:rPr lang="en-US" sz="2000" dirty="0"/>
              <a:t> Python library to request and parse Wikipedia HTML tables for historical Falcon 9 launches. </a:t>
            </a:r>
          </a:p>
          <a:p>
            <a:pPr lvl="0"/>
            <a:r>
              <a:rPr lang="en-US" sz="2000" dirty="0"/>
              <a:t>Iterated through table rows (&lt;tr&gt;) and data cells (&lt;td&gt;) to extract raw text data for flight numbers, payload masses, launch sites, and landing outcomes.</a:t>
            </a:r>
          </a:p>
          <a:p>
            <a:pPr>
              <a:lnSpc>
                <a:spcPct val="100000"/>
              </a:lnSpc>
              <a:spcBef>
                <a:spcPts val="1400"/>
              </a:spcBef>
            </a:pPr>
            <a:r>
              <a:rPr lang="en-US" sz="2000" dirty="0">
                <a:solidFill>
                  <a:schemeClr val="accent3">
                    <a:lumMod val="25000"/>
                  </a:schemeClr>
                </a:solidFill>
                <a:latin typeface="Abadi"/>
              </a:rPr>
              <a:t>GitHub: [add the URL of your completed web-scraping notebook]</a:t>
            </a: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2" name="Content Placeholder 4">
            <a:extLst>
              <a:ext uri="{FF2B5EF4-FFF2-40B4-BE49-F238E27FC236}">
                <a16:creationId xmlns:a16="http://schemas.microsoft.com/office/drawing/2014/main" id="{8B78C759-C687-440F-8CAE-D3071F1AB630}"/>
              </a:ext>
            </a:extLst>
          </p:cNvPr>
          <p:cNvSpPr txBox="1">
            <a:spLocks/>
          </p:cNvSpPr>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pic>
        <p:nvPicPr>
          <p:cNvPr id="12" name="Picture 11" descr="flow_scrape.png"/>
          <p:cNvPicPr>
            <a:picLocks noChangeAspect="1"/>
          </p:cNvPicPr>
          <p:nvPr/>
        </p:nvPicPr>
        <p:blipFill>
          <a:blip r:embed="rId3"/>
          <a:stretch>
            <a:fillRect/>
          </a:stretch>
        </p:blipFill>
        <p:spPr>
          <a:xfrm>
            <a:off x="5910262" y="2401136"/>
            <a:ext cx="5461000" cy="2989178"/>
          </a:xfrm>
          <a:prstGeom prst="rect">
            <a:avLst/>
          </a:prstGeom>
        </p:spPr>
      </p:pic>
      <p:pic>
        <p:nvPicPr>
          <p:cNvPr id="7" name="Picture 6">
            <a:extLst>
              <a:ext uri="{FF2B5EF4-FFF2-40B4-BE49-F238E27FC236}">
                <a16:creationId xmlns:a16="http://schemas.microsoft.com/office/drawing/2014/main" id="{D7C2763C-8603-1B76-2429-D04DB4366D2B}"/>
              </a:ext>
            </a:extLst>
          </p:cNvPr>
          <p:cNvPicPr>
            <a:picLocks noChangeAspect="1"/>
          </p:cNvPicPr>
          <p:nvPr/>
        </p:nvPicPr>
        <p:blipFill>
          <a:blip r:embed="rId4"/>
          <a:stretch>
            <a:fillRect/>
          </a:stretch>
        </p:blipFill>
        <p:spPr>
          <a:xfrm>
            <a:off x="5910262" y="1818439"/>
            <a:ext cx="5461000" cy="4207134"/>
          </a:xfrm>
          <a:prstGeom prst="rect">
            <a:avLst/>
          </a:prstGeom>
        </p:spPr>
      </p:pic>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8975652" cy="4351338"/>
          </a:xfrm>
          <a:prstGeom prst="rect">
            <a:avLst/>
          </a:prstGeom>
        </p:spPr>
        <p:txBody>
          <a:bodyPr/>
          <a:lstStyle/>
          <a:p>
            <a:r>
              <a:rPr lang="en-US" sz="2200" dirty="0">
                <a:solidFill>
                  <a:schemeClr val="accent3">
                    <a:lumMod val="25000"/>
                  </a:schemeClr>
                </a:solidFill>
                <a:latin typeface="Abadi" panose="020B0604020104020204" pitchFamily="34" charset="0"/>
              </a:rPr>
              <a:t>Counted missing values per column, then filled missing </a:t>
            </a:r>
            <a:r>
              <a:rPr lang="en-US" sz="2200" dirty="0" err="1">
                <a:solidFill>
                  <a:schemeClr val="accent3">
                    <a:lumMod val="25000"/>
                  </a:schemeClr>
                </a:solidFill>
                <a:latin typeface="Abadi" panose="020B0604020104020204" pitchFamily="34" charset="0"/>
              </a:rPr>
              <a:t>PayloadMass</a:t>
            </a:r>
            <a:r>
              <a:rPr lang="en-US" sz="2200" dirty="0">
                <a:solidFill>
                  <a:schemeClr val="accent3">
                    <a:lumMod val="25000"/>
                  </a:schemeClr>
                </a:solidFill>
                <a:latin typeface="Abadi" panose="020B0604020104020204" pitchFamily="34" charset="0"/>
              </a:rPr>
              <a:t> entries with the column mean</a:t>
            </a:r>
          </a:p>
          <a:p>
            <a:r>
              <a:rPr lang="en-US" sz="2200" dirty="0">
                <a:solidFill>
                  <a:schemeClr val="accent3">
                    <a:lumMod val="25000"/>
                  </a:schemeClr>
                </a:solidFill>
                <a:latin typeface="Abadi" panose="020B0604020104020204" pitchFamily="34" charset="0"/>
              </a:rPr>
              <a:t>Converted the raw landing outcome text into a binary Class label: 1 for a successful landing (ground pad, drone ship, or controlled ocean touchdown), 0 for a failure or no attempt</a:t>
            </a:r>
          </a:p>
          <a:p>
            <a:r>
              <a:rPr lang="en-US" sz="2200" dirty="0">
                <a:solidFill>
                  <a:schemeClr val="accent3">
                    <a:lumMod val="25000"/>
                  </a:schemeClr>
                </a:solidFill>
                <a:latin typeface="Abadi" panose="020B0604020104020204" pitchFamily="34" charset="0"/>
              </a:rPr>
              <a:t>Kept only Falcon 9 flights and one-hot encoded Orbit, </a:t>
            </a:r>
            <a:r>
              <a:rPr lang="en-US" sz="2200" dirty="0" err="1">
                <a:solidFill>
                  <a:schemeClr val="accent3">
                    <a:lumMod val="25000"/>
                  </a:schemeClr>
                </a:solidFill>
                <a:latin typeface="Abadi" panose="020B0604020104020204" pitchFamily="34" charset="0"/>
              </a:rPr>
              <a:t>LaunchSite</a:t>
            </a:r>
            <a:r>
              <a:rPr lang="en-US" sz="2200" dirty="0">
                <a:solidFill>
                  <a:schemeClr val="accent3">
                    <a:lumMod val="25000"/>
                  </a:schemeClr>
                </a:solidFill>
                <a:latin typeface="Abadi" panose="020B0604020104020204" pitchFamily="34" charset="0"/>
              </a:rPr>
              <a:t>, and Serial for modeling</a:t>
            </a:r>
          </a:p>
          <a:p>
            <a:r>
              <a:rPr lang="en-US" sz="2200" dirty="0">
                <a:solidFill>
                  <a:schemeClr val="accent3">
                    <a:lumMod val="25000"/>
                  </a:schemeClr>
                </a:solidFill>
                <a:latin typeface="Abadi" panose="020B0604020104020204" pitchFamily="34" charset="0"/>
              </a:rPr>
              <a:t>Result: a clean ~90-row dataset (dataset_part_2.csv) ready for EDA, SQL, and modeling</a:t>
            </a:r>
          </a:p>
          <a:p>
            <a:r>
              <a:rPr lang="en-US" sz="2200" dirty="0">
                <a:solidFill>
                  <a:schemeClr val="accent3">
                    <a:lumMod val="25000"/>
                  </a:schemeClr>
                </a:solidFill>
                <a:latin typeface="Abadi" panose="020B0604020104020204" pitchFamily="34" charset="0"/>
              </a:rPr>
              <a:t>GitHub: </a:t>
            </a:r>
            <a:r>
              <a:rPr lang="en-US" sz="2200" dirty="0">
                <a:solidFill>
                  <a:schemeClr val="accent3">
                    <a:lumMod val="25000"/>
                  </a:schemeClr>
                </a:solidFill>
                <a:latin typeface="Abadi" panose="020B0604020104020204" pitchFamily="34" charset="0"/>
                <a:hlinkClick r:id="rId3"/>
              </a:rPr>
              <a:t>https://github.com/Mayank98-sudo/SpaceXCapstoneProject/blob/9183fd46e228a70595ecb863d8b1195087362e30/labs-jupyter-spacex-Data%20wrangling.ipynb</a:t>
            </a: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a:solidFill>
                  <a:schemeClr val="accent3">
                    <a:lumMod val="25000"/>
                  </a:schemeClr>
                </a:solidFill>
                <a:latin typeface="Abadi"/>
              </a:rPr>
              <a:t>Flight Number vs. Payload Mass / Launch Site / Orbit — scatter plots colored by outcome, to see how launch order, payload mass, and orbit relate to landing success</a:t>
            </a:r>
          </a:p>
          <a:p>
            <a:pPr>
              <a:lnSpc>
                <a:spcPct val="100000"/>
              </a:lnSpc>
              <a:spcBef>
                <a:spcPts val="1400"/>
              </a:spcBef>
            </a:pPr>
            <a:r>
              <a:rPr lang="en-US" sz="2200">
                <a:solidFill>
                  <a:schemeClr val="accent3">
                    <a:lumMod val="25000"/>
                  </a:schemeClr>
                </a:solidFill>
                <a:latin typeface="Abadi"/>
              </a:rPr>
              <a:t>Payload Mass vs. Launch Site / Orbit Type — scatter plots to see which sites and orbits handle heavier payloads, and whether mass affects landing success</a:t>
            </a:r>
          </a:p>
          <a:p>
            <a:pPr>
              <a:lnSpc>
                <a:spcPct val="100000"/>
              </a:lnSpc>
              <a:spcBef>
                <a:spcPts val="1400"/>
              </a:spcBef>
            </a:pPr>
            <a:r>
              <a:rPr lang="en-US" sz="2200">
                <a:solidFill>
                  <a:schemeClr val="accent3">
                    <a:lumMod val="25000"/>
                  </a:schemeClr>
                </a:solidFill>
                <a:latin typeface="Abadi"/>
              </a:rPr>
              <a:t>Success rate by Orbit Type — bar chart summarizing which orbits land most reliably</a:t>
            </a:r>
          </a:p>
          <a:p>
            <a:pPr>
              <a:lnSpc>
                <a:spcPct val="100000"/>
              </a:lnSpc>
              <a:spcBef>
                <a:spcPts val="1400"/>
              </a:spcBef>
            </a:pPr>
            <a:r>
              <a:rPr lang="en-US" sz="2200">
                <a:solidFill>
                  <a:schemeClr val="accent3">
                    <a:lumMod val="25000"/>
                  </a:schemeClr>
                </a:solidFill>
                <a:latin typeface="Abadi"/>
              </a:rPr>
              <a:t>Yearly launch success trend — line chart showing how the success rate improved over time</a:t>
            </a:r>
          </a:p>
          <a:p>
            <a:pPr>
              <a:lnSpc>
                <a:spcPct val="100000"/>
              </a:lnSpc>
              <a:spcBef>
                <a:spcPts val="1400"/>
              </a:spcBef>
            </a:pPr>
            <a:r>
              <a:rPr lang="en-US" sz="2200">
                <a:solidFill>
                  <a:schemeClr val="accent3">
                    <a:lumMod val="25000"/>
                  </a:schemeClr>
                </a:solidFill>
                <a:latin typeface="Abadi"/>
              </a:rPr>
              <a:t>GitHub: [add the URL of your completed EDA-with-visualization notebook]</a:t>
            </a: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91537" y="1340747"/>
            <a:ext cx="9745589" cy="5517253"/>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Listed the unique launch sites, and pulled sample records from the CCAFS pads</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Summed NASA (CRS) payload mass and averaged F9 v1.1 payload mass</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Found the date of the first successful ground-pad landing</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Identified boosters that landed successfully on a drone ship with a 4,000-6,000 kg payload</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Counted successful vs. failed outcomes, and found the booster(s) that carried the maximum payload</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Pulled 2015 drone-ship landing failures, and ranked landing-outcome counts for 2010-2017</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err="1">
                <a:solidFill>
                  <a:schemeClr val="accent3">
                    <a:lumMod val="25000"/>
                  </a:schemeClr>
                </a:solidFill>
                <a:latin typeface="Abadi"/>
              </a:rPr>
              <a:t>GitHub:</a:t>
            </a:r>
            <a:r>
              <a:rPr lang="en-US" sz="2200" dirty="0" err="1">
                <a:solidFill>
                  <a:schemeClr val="accent3">
                    <a:lumMod val="25000"/>
                  </a:schemeClr>
                </a:solidFill>
                <a:latin typeface="Abadi"/>
                <a:hlinkClick r:id="rId3"/>
              </a:rPr>
              <a:t>https</a:t>
            </a:r>
            <a:r>
              <a:rPr lang="en-US" sz="2200" dirty="0">
                <a:solidFill>
                  <a:schemeClr val="accent3">
                    <a:lumMod val="25000"/>
                  </a:schemeClr>
                </a:solidFill>
                <a:latin typeface="Abadi"/>
                <a:hlinkClick r:id="rId3"/>
              </a:rPr>
              <a:t>://github.com/Mayank98sudo/</a:t>
            </a:r>
            <a:r>
              <a:rPr lang="en-US" sz="2200" dirty="0" err="1">
                <a:solidFill>
                  <a:schemeClr val="accent3">
                    <a:lumMod val="25000"/>
                  </a:schemeClr>
                </a:solidFill>
                <a:latin typeface="Abadi"/>
                <a:hlinkClick r:id="rId3"/>
              </a:rPr>
              <a:t>SpaceXCapstoneProject</a:t>
            </a:r>
            <a:r>
              <a:rPr lang="en-US" sz="2200" dirty="0">
                <a:solidFill>
                  <a:schemeClr val="accent3">
                    <a:lumMod val="25000"/>
                  </a:schemeClr>
                </a:solidFill>
                <a:latin typeface="Abadi"/>
                <a:hlinkClick r:id="rId3"/>
              </a:rPr>
              <a:t>/blob/9183fd46e228a70595ecb863d8b1195087362e30/jupyter-labs-eda-sql-coursera_sqllite.ipynb</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Added an orange Circle plus a text-label Marker at each of the 4 launch-site coordinates, on a folium.Map centered on NASA Johnson Space Center</a:t>
            </a:r>
          </a:p>
          <a:p>
            <a:pPr>
              <a:lnSpc>
                <a:spcPct val="100000"/>
              </a:lnSpc>
              <a:spcBef>
                <a:spcPts val="1400"/>
              </a:spcBef>
            </a:pPr>
            <a:r>
              <a:rPr lang="en-US" sz="2200">
                <a:solidFill>
                  <a:schemeClr val="accent3">
                    <a:lumMod val="25000"/>
                  </a:schemeClr>
                </a:solidFill>
                <a:latin typeface="Abadi" panose="020B0604020104020204" pitchFamily="34" charset="0"/>
              </a:rPr>
              <a:t>Added a MarkerCluster with one green (success) or red (failure) circle marker per individual launch, so per-site outcome patterns are visible at a glance</a:t>
            </a:r>
          </a:p>
          <a:p>
            <a:pPr>
              <a:lnSpc>
                <a:spcPct val="100000"/>
              </a:lnSpc>
              <a:spcBef>
                <a:spcPts val="1400"/>
              </a:spcBef>
            </a:pPr>
            <a:r>
              <a:rPr lang="en-US" sz="2200">
                <a:solidFill>
                  <a:schemeClr val="accent3">
                    <a:lumMod val="25000"/>
                  </a:schemeClr>
                </a:solidFill>
                <a:latin typeface="Abadi" panose="020B0604020104020204" pitchFamily="34" charset="0"/>
              </a:rPr>
              <a:t>Enabled MousePosition and drew PolyLine distance markers from a launch site to the nearest coastline, railway and highway, to test proximity to transport routes and the coast</a:t>
            </a:r>
          </a:p>
          <a:p>
            <a:pPr>
              <a:lnSpc>
                <a:spcPct val="100000"/>
              </a:lnSpc>
              <a:spcBef>
                <a:spcPts val="1400"/>
              </a:spcBef>
            </a:pPr>
            <a:r>
              <a:rPr lang="en-US" sz="2200">
                <a:solidFill>
                  <a:schemeClr val="accent3">
                    <a:lumMod val="25000"/>
                  </a:schemeClr>
                </a:solidFill>
                <a:latin typeface="Abadi" panose="020B0604020104020204" pitchFamily="34" charset="0"/>
              </a:rPr>
              <a:t>These map elements make it easy to see that sites are coastal, near the equator, and set back from cities — confirmed on the following slides</a:t>
            </a:r>
          </a:p>
          <a:p>
            <a:pPr>
              <a:lnSpc>
                <a:spcPct val="100000"/>
              </a:lnSpc>
              <a:spcBef>
                <a:spcPts val="1400"/>
              </a:spcBef>
            </a:pPr>
            <a:r>
              <a:rPr lang="en-US" sz="2200">
                <a:solidFill>
                  <a:schemeClr val="accent3">
                    <a:lumMod val="25000"/>
                  </a:schemeClr>
                </a:solidFill>
                <a:latin typeface="Abadi" panose="020B0604020104020204" pitchFamily="34" charset="0"/>
              </a:rPr>
              <a:t>GitHub: [add the URL of your completed Folium-map notebook]</a:t>
            </a:r>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Dropdown to switch between “All Sites” and each individual launch site</a:t>
            </a:r>
          </a:p>
          <a:p>
            <a:pPr>
              <a:lnSpc>
                <a:spcPct val="100000"/>
              </a:lnSpc>
              <a:spcBef>
                <a:spcPts val="1400"/>
              </a:spcBef>
            </a:pPr>
            <a:r>
              <a:rPr lang="en-US" sz="2200">
                <a:solidFill>
                  <a:schemeClr val="accent3">
                    <a:lumMod val="25000"/>
                  </a:schemeClr>
                </a:solidFill>
                <a:latin typeface="Abadi" panose="020B0604020104020204" pitchFamily="34" charset="0"/>
              </a:rPr>
              <a:t>Pie chart of total successful launches by site (All Sites view) or the success-vs-failure split for the selected site — to compare reliability across pads at a glance</a:t>
            </a:r>
          </a:p>
          <a:p>
            <a:pPr>
              <a:lnSpc>
                <a:spcPct val="100000"/>
              </a:lnSpc>
              <a:spcBef>
                <a:spcPts val="1400"/>
              </a:spcBef>
            </a:pPr>
            <a:r>
              <a:rPr lang="en-US" sz="2200">
                <a:solidFill>
                  <a:schemeClr val="accent3">
                    <a:lumMod val="25000"/>
                  </a:schemeClr>
                </a:solidFill>
                <a:latin typeface="Abadi" panose="020B0604020104020204" pitchFamily="34" charset="0"/>
              </a:rPr>
              <a:t>Payload-mass range slider (0-9,600 kg) driving a Payload vs. Launch Outcome scatter plot colored by booster version — to explore how payload mass and booster generation relate to landing success, interactively</a:t>
            </a:r>
          </a:p>
          <a:p>
            <a:pPr>
              <a:lnSpc>
                <a:spcPct val="100000"/>
              </a:lnSpc>
              <a:spcBef>
                <a:spcPts val="1400"/>
              </a:spcBef>
            </a:pPr>
            <a:r>
              <a:rPr lang="en-US" sz="2200">
                <a:solidFill>
                  <a:schemeClr val="accent3">
                    <a:lumMod val="25000"/>
                  </a:schemeClr>
                </a:solidFill>
                <a:latin typeface="Abadi" panose="020B0604020104020204" pitchFamily="34" charset="0"/>
              </a:rPr>
              <a:t>These interactions let a user drill from a fleet-wide view down to a single site's payload/outcome relationship in a few clicks</a:t>
            </a:r>
          </a:p>
          <a:p>
            <a:pPr>
              <a:lnSpc>
                <a:spcPct val="100000"/>
              </a:lnSpc>
              <a:spcBef>
                <a:spcPts val="1400"/>
              </a:spcBef>
            </a:pPr>
            <a:r>
              <a:rPr lang="en-US" sz="2200">
                <a:solidFill>
                  <a:schemeClr val="accent3">
                    <a:lumMod val="25000"/>
                  </a:schemeClr>
                </a:solidFill>
                <a:latin typeface="Abadi" panose="020B0604020104020204" pitchFamily="34" charset="0"/>
              </a:rPr>
              <a:t>GitHub: [add the URL of your completed Plotly Dash app]</a:t>
            </a:r>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lnSpcReduction="10000"/>
          </a:bodyPr>
          <a:lstStyle/>
          <a:p>
            <a:pPr>
              <a:lnSpc>
                <a:spcPct val="100000"/>
              </a:lnSpc>
              <a:spcBef>
                <a:spcPts val="1400"/>
              </a:spcBef>
            </a:pPr>
            <a:r>
              <a:rPr lang="en-US" sz="2200">
                <a:solidFill>
                  <a:schemeClr val="accent3">
                    <a:lumMod val="25000"/>
                  </a:schemeClr>
                </a:solidFill>
                <a:latin typeface="Abadi" panose="020B0604020104020204" pitchFamily="34" charset="0"/>
              </a:rPr>
              <a:t>Standardized the features (StandardScaler) and split into 80% train / 20% test (18 held-out launches, random_state=2)</a:t>
            </a:r>
          </a:p>
          <a:p>
            <a:pPr>
              <a:lnSpc>
                <a:spcPct val="100000"/>
              </a:lnSpc>
              <a:spcBef>
                <a:spcPts val="1400"/>
              </a:spcBef>
            </a:pPr>
            <a:r>
              <a:rPr lang="en-US" sz="2200">
                <a:solidFill>
                  <a:schemeClr val="accent3">
                    <a:lumMod val="25000"/>
                  </a:schemeClr>
                </a:solidFill>
                <a:latin typeface="Abadi" panose="020B0604020104020204" pitchFamily="34" charset="0"/>
              </a:rPr>
              <a:t>Tuned 4 classifiers with GridSearchCV (10-fold cross-validation): Logistic Regression, SVM, Decision Tree, and KNN</a:t>
            </a:r>
          </a:p>
          <a:p>
            <a:pPr>
              <a:lnSpc>
                <a:spcPct val="100000"/>
              </a:lnSpc>
              <a:spcBef>
                <a:spcPts val="1400"/>
              </a:spcBef>
            </a:pPr>
            <a:r>
              <a:rPr lang="en-US" sz="2200">
                <a:solidFill>
                  <a:schemeClr val="accent3">
                    <a:lumMod val="25000"/>
                  </a:schemeClr>
                </a:solidFill>
                <a:latin typeface="Abadi" panose="020B0604020104020204" pitchFamily="34" charset="0"/>
              </a:rPr>
              <a:t>How to build, tune, evaluate classification models</a:t>
            </a:r>
          </a:p>
          <a:p>
            <a:pPr>
              <a:lnSpc>
                <a:spcPct val="100000"/>
              </a:lnSpc>
              <a:spcBef>
                <a:spcPts val="1400"/>
              </a:spcBef>
            </a:pPr>
            <a:r>
              <a:rPr lang="en-US" sz="2200">
                <a:solidFill>
                  <a:schemeClr val="accent3">
                    <a:lumMod val="25000"/>
                  </a:schemeClr>
                </a:solidFill>
                <a:latin typeface="Abadi" panose="020B0604020104020204" pitchFamily="34" charset="0"/>
              </a:rPr>
              <a:t>Compared cross-validation accuracy to pick the best hyperparameters for each model, then validated all 4 on the untouched test set and via a confusion matrix</a:t>
            </a:r>
          </a:p>
          <a:p>
            <a:pPr>
              <a:lnSpc>
                <a:spcPct val="100000"/>
              </a:lnSpc>
              <a:spcBef>
                <a:spcPts val="1400"/>
              </a:spcBef>
            </a:pPr>
            <a:r>
              <a:rPr lang="en-US" sz="2200">
                <a:solidFill>
                  <a:schemeClr val="accent3">
                    <a:lumMod val="25000"/>
                  </a:schemeClr>
                </a:solidFill>
                <a:latin typeface="Abadi" panose="020B0604020104020204" pitchFamily="34" charset="0"/>
              </a:rPr>
              <a:t>Decision Tree had the strongest cross-validation accuracy (87.7%); all 4 tuned models tied at 83.3% on the small 18-launch test set</a:t>
            </a:r>
          </a:p>
          <a:p>
            <a:pPr>
              <a:lnSpc>
                <a:spcPct val="100000"/>
              </a:lnSpc>
              <a:spcBef>
                <a:spcPts val="1400"/>
              </a:spcBef>
            </a:pPr>
            <a:r>
              <a:rPr lang="en-US" sz="2200">
                <a:solidFill>
                  <a:schemeClr val="accent3">
                    <a:lumMod val="25000"/>
                  </a:schemeClr>
                </a:solidFill>
                <a:latin typeface="Abadi" panose="020B0604020104020204" pitchFamily="34" charset="0"/>
              </a:rPr>
              <a:t>GitHub: [add the URL of your completed predictive-analysis notebook]</a:t>
            </a:r>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770011" y="1750000"/>
            <a:ext cx="10650000" cy="420000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a:solidFill>
                  <a:schemeClr val="accent3">
                    <a:lumMod val="25000"/>
                  </a:schemeClr>
                </a:solidFill>
                <a:latin typeface="Abadi" panose="020B0604020104020204" pitchFamily="34" charset="0"/>
              </a:rPr>
              <a:t>Landing success climbed from 0% (2010-2013) to ~84-90% (2019-2020); KSC LC-39A (77.3%) and VAFB SLC-4E (76.9%) out-performed CCAFS SLC-40 (60%); low-risk orbits (SSO/GEO/HEO/ES-L1) landed 100% of the time vs. 51.9% for GTO</a:t>
            </a:r>
          </a:p>
          <a:p>
            <a:pPr>
              <a:lnSpc>
                <a:spcPct val="100000"/>
              </a:lnSpc>
              <a:spcBef>
                <a:spcPts val="1400"/>
              </a:spcBef>
            </a:pPr>
            <a:r>
              <a:rPr lang="en-US" sz="220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a:solidFill>
                  <a:schemeClr val="accent3">
                    <a:lumMod val="25000"/>
                  </a:schemeClr>
                </a:solidFill>
                <a:latin typeface="Abadi" panose="020B0604020104020204" pitchFamily="34" charset="0"/>
              </a:rPr>
              <a:t>The Folium map confirms all 4 sites sit near the coast and close to the equator; the Dash dashboard shows KSC LC-39A contributing the largest share (41.7%) of successful launches</a:t>
            </a:r>
          </a:p>
          <a:p>
            <a:pPr>
              <a:lnSpc>
                <a:spcPct val="100000"/>
              </a:lnSpc>
              <a:spcBef>
                <a:spcPts val="1400"/>
              </a:spcBef>
            </a:pPr>
            <a:r>
              <a:rPr lang="en-US" sz="2200">
                <a:solidFill>
                  <a:schemeClr val="accent3">
                    <a:lumMod val="25000"/>
                  </a:schemeClr>
                </a:solidFill>
                <a:latin typeface="Abadi" panose="020B0604020104020204" pitchFamily="34" charset="0"/>
              </a:rPr>
              <a:t>Predictive analysis results</a:t>
            </a:r>
          </a:p>
          <a:p>
            <a:pPr>
              <a:lnSpc>
                <a:spcPct val="100000"/>
              </a:lnSpc>
              <a:spcBef>
                <a:spcPts val="1400"/>
              </a:spcBef>
            </a:pPr>
            <a:r>
              <a:rPr lang="en-US" sz="2200">
                <a:solidFill>
                  <a:schemeClr val="accent3">
                    <a:lumMod val="25000"/>
                  </a:schemeClr>
                </a:solidFill>
                <a:latin typeface="Abadi" panose="020B0604020104020204" pitchFamily="34" charset="0"/>
              </a:rPr>
              <a:t>Tuned classifiers reached up to 87.7% cross-validation accuracy and 83.3% test accuracy at predicting landing outcome</a:t>
            </a:r>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3" y="2057400"/>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Later flights (higher flight numbers) land successfully far more often than early ones — first-stage recovery was still experimental in 2010-2014, and reliability climbed steadily as SpaceX iterated on the Falcon 9 design.</a:t>
            </a:r>
            <a:endParaRPr lang="en-US" sz="220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Picture 5" descr="Flight_Number_vs__Launch_Site.png"/>
          <p:cNvPicPr>
            <a:picLocks noChangeAspect="1"/>
          </p:cNvPicPr>
          <p:nvPr/>
        </p:nvPicPr>
        <p:blipFill>
          <a:blip r:embed="rId3"/>
          <a:stretch>
            <a:fillRect/>
          </a:stretch>
        </p:blipFill>
        <p:spPr>
          <a:xfrm>
            <a:off x="4977211" y="1777042"/>
            <a:ext cx="6864789" cy="4091946"/>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CCAFS SLC-40 handles by far the widest range of payload masses, including the heaviest (~15,600 kg); VAFB SLC-4E is used mainly for polar/sun-synchronous orbits, so its payloads cluster in a narrower, lighter band.</a:t>
            </a:r>
            <a:endParaRPr lang="en-US" sz="220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pic>
        <p:nvPicPr>
          <p:cNvPr id="6" name="Picture 5" descr="Payload_Mass_vs__Launch_Site.png"/>
          <p:cNvPicPr>
            <a:picLocks noChangeAspect="1"/>
          </p:cNvPicPr>
          <p:nvPr/>
        </p:nvPicPr>
        <p:blipFill>
          <a:blip r:embed="rId3"/>
          <a:stretch>
            <a:fillRect/>
          </a:stretch>
        </p:blipFill>
        <p:spPr>
          <a:xfrm>
            <a:off x="4882249" y="1757336"/>
            <a:ext cx="6959751" cy="4124009"/>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82114"/>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ES-L1, GEO, HEO and SSO orbits landed successfully 100% of the time (on small sample sizes); VLEO landed 85.7% of the time; GTO — the most common and most demanding orbit — had the lowest success rate at 51.9%.</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descr="orbit_success_rate.png"/>
          <p:cNvPicPr>
            <a:picLocks noChangeAspect="1"/>
          </p:cNvPicPr>
          <p:nvPr/>
        </p:nvPicPr>
        <p:blipFill>
          <a:blip r:embed="rId3"/>
          <a:stretch>
            <a:fillRect/>
          </a:stretch>
        </p:blipFill>
        <p:spPr>
          <a:xfrm>
            <a:off x="4882249" y="1863350"/>
            <a:ext cx="6959751" cy="3811587"/>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6"/>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Early flights (low flight numbers) were concentrated in GTO and ISS orbits and failed often; from roughly flight 50 onward, SpaceX flew a wider mix of orbits, including VLEO, with mostly successful landings.</a:t>
            </a: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descr="Flight_Number_vs__Orbit_Type.png"/>
          <p:cNvPicPr>
            <a:picLocks noChangeAspect="1"/>
          </p:cNvPicPr>
          <p:nvPr/>
        </p:nvPicPr>
        <p:blipFill>
          <a:blip r:embed="rId3"/>
          <a:stretch>
            <a:fillRect/>
          </a:stretch>
        </p:blipFill>
        <p:spPr>
          <a:xfrm>
            <a:off x="4882249" y="2191110"/>
            <a:ext cx="6959751" cy="2851022"/>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57400"/>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GTO carries the widest spread of payload masses and mixes both outcomes; VLEO payloads are heavy (13,000-15,600 kg) and land successfully almost every time, reflecting a matured, reusable booster fleet by the time VLEO missions began.</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Picture 5" descr="Payload_Mass_vs__Orbit_Type.png"/>
          <p:cNvPicPr>
            <a:picLocks noChangeAspect="1"/>
          </p:cNvPicPr>
          <p:nvPr/>
        </p:nvPicPr>
        <p:blipFill>
          <a:blip r:embed="rId3"/>
          <a:stretch>
            <a:fillRect/>
          </a:stretch>
        </p:blipFill>
        <p:spPr>
          <a:xfrm>
            <a:off x="4882249" y="1880558"/>
            <a:ext cx="6959751" cy="3161573"/>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CA" sz="2200">
                <a:solidFill>
                  <a:schemeClr val="accent3">
                    <a:lumMod val="25000"/>
                  </a:schemeClr>
                </a:solidFill>
                <a:latin typeface="Abadi" panose="020B0604020104020204" pitchFamily="34" charset="0"/>
              </a:rPr>
              <a:t>Success rate was 0% in 2010, 2012 and 2013, rose to 33% in 2014-2015, passed 60% by 2016, and reached 90% in 2019 before easing slightly to 84% in 2020 — a clear, steady improvement as SpaceX refined first-stage recovery.</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Picture 5" descr="Launch_Success_Yearly_Trend.png"/>
          <p:cNvPicPr>
            <a:picLocks noChangeAspect="1"/>
          </p:cNvPicPr>
          <p:nvPr/>
        </p:nvPicPr>
        <p:blipFill>
          <a:blip r:embed="rId3"/>
          <a:stretch>
            <a:fillRect/>
          </a:stretch>
        </p:blipFill>
        <p:spPr>
          <a:xfrm>
            <a:off x="4995723" y="1750000"/>
            <a:ext cx="6732802" cy="4370000"/>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Query: SELECT DISTINCT "Launch_Site" FROM SPACEXTABLE;</a:t>
            </a:r>
          </a:p>
          <a:p>
            <a:pPr>
              <a:lnSpc>
                <a:spcPct val="100000"/>
              </a:lnSpc>
              <a:spcBef>
                <a:spcPts val="1400"/>
              </a:spcBef>
            </a:pPr>
            <a:r>
              <a:rPr lang="en-US" sz="2200" dirty="0">
                <a:solidFill>
                  <a:schemeClr val="accent3">
                    <a:lumMod val="25000"/>
                  </a:schemeClr>
                </a:solidFill>
                <a:latin typeface="Abadi" panose="020B0604020104020204" pitchFamily="34" charset="0"/>
              </a:rPr>
              <a:t>Result: CCAFS LC-40, CCAFS SLC-40, KSC LC-39A, VAFB SLC-4E</a:t>
            </a:r>
          </a:p>
          <a:p>
            <a:pPr>
              <a:lnSpc>
                <a:spcPct val="100000"/>
              </a:lnSpc>
              <a:spcBef>
                <a:spcPts val="1400"/>
              </a:spcBef>
            </a:pPr>
            <a:r>
              <a:rPr lang="en-US" sz="2200" dirty="0">
                <a:solidFill>
                  <a:schemeClr val="accent3">
                    <a:lumMod val="25000"/>
                  </a:schemeClr>
                </a:solidFill>
                <a:latin typeface="Abadi" panose="020B0604020104020204" pitchFamily="34" charset="0"/>
              </a:rPr>
              <a:t>Four unique launch sites appear in the dataset: two Cape Canaveral pads (the original LC-40 and its rebuilt successor SLC-40), Kennedy Space Center's historic LC-39A, and Vandenberg's SLC-4E on the California coast.</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Tree>
    <p:extLst>
      <p:ext uri="{BB962C8B-B14F-4D97-AF65-F5344CB8AC3E}">
        <p14:creationId xmlns:p14="http://schemas.microsoft.com/office/powerpoint/2010/main" val="2727850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Query: SELECT * FROM SPACEXTABLE WHERE "Launch_Site" LIKE 'CCA%' LIMIT 5;</a:t>
            </a:r>
          </a:p>
          <a:p>
            <a:pPr>
              <a:lnSpc>
                <a:spcPct val="100000"/>
              </a:lnSpc>
              <a:spcBef>
                <a:spcPts val="1400"/>
              </a:spcBef>
            </a:pPr>
            <a:r>
              <a:rPr lang="en-US" sz="2200" dirty="0">
                <a:solidFill>
                  <a:schemeClr val="accent3">
                    <a:lumMod val="25000"/>
                  </a:schemeClr>
                </a:solidFill>
                <a:latin typeface="Abadi" panose="020B0604020104020204" pitchFamily="34" charset="0"/>
              </a:rPr>
              <a:t>Result: 5 earliest CCAFS LC-40 launches (2010-06-04 to 2013-03-01) — boosters B0003-B0007, payloads from 0 to 677 kg</a:t>
            </a:r>
          </a:p>
          <a:p>
            <a:pPr>
              <a:lnSpc>
                <a:spcPct val="100000"/>
              </a:lnSpc>
              <a:spcBef>
                <a:spcPts val="1400"/>
              </a:spcBef>
            </a:pPr>
            <a:r>
              <a:rPr lang="en-US" sz="2200" dirty="0">
                <a:solidFill>
                  <a:schemeClr val="accent3">
                    <a:lumMod val="25000"/>
                  </a:schemeClr>
                </a:solidFill>
                <a:latin typeface="Abadi" panose="020B0604020104020204" pitchFamily="34" charset="0"/>
              </a:rPr>
              <a:t>All 5 predate SpaceX's landing program: every landing outcome reads “Failure (parachute)” or “No attempt,” since recovery wasn't yet being attempted.</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Tree>
    <p:extLst>
      <p:ext uri="{BB962C8B-B14F-4D97-AF65-F5344CB8AC3E}">
        <p14:creationId xmlns:p14="http://schemas.microsoft.com/office/powerpoint/2010/main" val="17947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Query: SELECT SUM("PAYLOAD_MASS__KG_") FROM SPACEXTABLE WHERE "Customer" LIKE '%NASA (CRS)%';</a:t>
            </a:r>
          </a:p>
          <a:p>
            <a:pPr>
              <a:lnSpc>
                <a:spcPct val="100000"/>
              </a:lnSpc>
              <a:spcBef>
                <a:spcPts val="1400"/>
              </a:spcBef>
            </a:pPr>
            <a:r>
              <a:rPr lang="en-US" sz="2200">
                <a:solidFill>
                  <a:schemeClr val="accent3">
                    <a:lumMod val="25000"/>
                  </a:schemeClr>
                </a:solidFill>
                <a:latin typeface="Abadi" panose="020B0604020104020204" pitchFamily="34" charset="0"/>
              </a:rPr>
              <a:t>Result: 45,596 kg</a:t>
            </a:r>
          </a:p>
          <a:p>
            <a:pPr>
              <a:lnSpc>
                <a:spcPct val="100000"/>
              </a:lnSpc>
              <a:spcBef>
                <a:spcPts val="1400"/>
              </a:spcBef>
            </a:pPr>
            <a:r>
              <a:rPr lang="en-US" sz="2200">
                <a:solidFill>
                  <a:schemeClr val="accent3">
                    <a:lumMod val="25000"/>
                  </a:schemeClr>
                </a:solidFill>
                <a:latin typeface="Abadi" panose="020B0604020104020204" pitchFamily="34" charset="0"/>
              </a:rPr>
              <a:t>Across all Commercial Resupply Services missions flown for NASA, SpaceX has delivered roughly 45.6 metric tons of cargo to the ISS.</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Tree>
    <p:extLst>
      <p:ext uri="{BB962C8B-B14F-4D97-AF65-F5344CB8AC3E}">
        <p14:creationId xmlns:p14="http://schemas.microsoft.com/office/powerpoint/2010/main" val="401001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Query: SELECT AVG("PAYLOAD_MASS__KG_") FROM SPACEXTABLE WHERE "Booster_Version" = 'F9 v1.1';</a:t>
            </a:r>
          </a:p>
          <a:p>
            <a:pPr>
              <a:lnSpc>
                <a:spcPct val="100000"/>
              </a:lnSpc>
              <a:spcBef>
                <a:spcPts val="1400"/>
              </a:spcBef>
            </a:pPr>
            <a:r>
              <a:rPr lang="en-US" sz="2200">
                <a:solidFill>
                  <a:schemeClr val="accent3">
                    <a:lumMod val="25000"/>
                  </a:schemeClr>
                </a:solidFill>
                <a:latin typeface="Abadi" panose="020B0604020104020204" pitchFamily="34" charset="0"/>
              </a:rPr>
              <a:t>Result: 2,534 kg</a:t>
            </a:r>
          </a:p>
          <a:p>
            <a:pPr>
              <a:lnSpc>
                <a:spcPct val="100000"/>
              </a:lnSpc>
              <a:spcBef>
                <a:spcPts val="1400"/>
              </a:spcBef>
            </a:pPr>
            <a:r>
              <a:rPr lang="en-US" sz="2200">
                <a:solidFill>
                  <a:schemeClr val="accent3">
                    <a:lumMod val="25000"/>
                  </a:schemeClr>
                </a:solidFill>
                <a:latin typeface="Abadi" panose="020B0604020104020204" pitchFamily="34" charset="0"/>
              </a:rPr>
              <a:t>The early F9 v1.1 booster (flown 2013-2016) averaged about 2,534 kg per payload — far below the 15,000+ kg the current fleet routinely carries, reflecting that generation's smaller payload capacity.</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Tree>
    <p:extLst>
      <p:ext uri="{BB962C8B-B14F-4D97-AF65-F5344CB8AC3E}">
        <p14:creationId xmlns:p14="http://schemas.microsoft.com/office/powerpoint/2010/main" val="2735560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Query: SELECT MIN("Date") FROM SPACEXTABLE WHERE "Landing_Outcome" = 'Success (ground pad)';</a:t>
            </a: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a:rPr>
              <a:t>Result: 2015-12-22</a:t>
            </a: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a:rPr>
              <a:t>SpaceX achieved its first successful ground-pad landing on 22 December 2015 (Orbcomm-2 mission, booster B1019) — the milestone that proved first-stage reuse was viable.</a:t>
            </a:r>
            <a:endParaRPr lang="en-US" dirty="0">
              <a:solidFill>
                <a:schemeClr val="accent3">
                  <a:lumMod val="25000"/>
                </a:schemeClr>
              </a:solidFill>
            </a:endParaRP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Tree>
    <p:extLst>
      <p:ext uri="{BB962C8B-B14F-4D97-AF65-F5344CB8AC3E}">
        <p14:creationId xmlns:p14="http://schemas.microsoft.com/office/powerpoint/2010/main" val="1434679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a:rPr>
              <a:t>Query: SELECT "Booster_Version" FROM SPACEXTABLE WHERE "Landing_Outcome" = 'Success (drone ship)' AND "PAYLOAD_MASS__KG_" BETWEEN 4000 AND 6000;</a:t>
            </a: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a:rPr>
              <a:t>Result: F9 FT B1022, F9 FT B1026, F9 FT B1021.2, F9 FT B1031.2</a:t>
            </a: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a:rPr>
              <a:t>Four Falcon 9 Full Thrust boosters successfully landed on a drone ship while carrying a mid-weight (4-6 t) payload — including B1021, the first-ever orbital-class booster to be reflown.</a:t>
            </a:r>
            <a:endParaRPr lang="en-US" sz="220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Tree>
    <p:extLst>
      <p:ext uri="{BB962C8B-B14F-4D97-AF65-F5344CB8AC3E}">
        <p14:creationId xmlns:p14="http://schemas.microsoft.com/office/powerpoint/2010/main" val="6393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Query: SELECT "Mission_Outcome", COUNT(*) FROM SPACEXTABLE GROUP BY "Mission_Outcome";</a:t>
            </a:r>
          </a:p>
          <a:p>
            <a:pPr>
              <a:lnSpc>
                <a:spcPct val="100000"/>
              </a:lnSpc>
              <a:spcBef>
                <a:spcPts val="1400"/>
              </a:spcBef>
            </a:pPr>
            <a:r>
              <a:rPr lang="en-US" sz="2200">
                <a:solidFill>
                  <a:schemeClr val="accent3">
                    <a:lumMod val="25000"/>
                  </a:schemeClr>
                </a:solidFill>
                <a:latin typeface="Abadi" panose="020B0604020104020204" pitchFamily="34" charset="0"/>
              </a:rPr>
              <a:t>Result: only 1 mission failure logged (CRS-7, which broke apart in flight in June 2015) out of &gt;100 Falcon 9 missions — the rest are “Success.”</a:t>
            </a:r>
          </a:p>
          <a:p>
            <a:pPr>
              <a:lnSpc>
                <a:spcPct val="100000"/>
              </a:lnSpc>
              <a:spcBef>
                <a:spcPts val="1400"/>
              </a:spcBef>
            </a:pPr>
            <a:r>
              <a:rPr lang="en-US" sz="2200">
                <a:solidFill>
                  <a:schemeClr val="accent3">
                    <a:lumMod val="25000"/>
                  </a:schemeClr>
                </a:solidFill>
                <a:latin typeface="Abadi" panose="020B0604020104020204" pitchFamily="34" charset="0"/>
              </a:rPr>
              <a:t>Mission outcome (did the payload reach orbit) is far more reliable than landing outcome (did the booster land) — the two are tracked, and fail, independently.</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Tree>
    <p:extLst>
      <p:ext uri="{BB962C8B-B14F-4D97-AF65-F5344CB8AC3E}">
        <p14:creationId xmlns:p14="http://schemas.microsoft.com/office/powerpoint/2010/main" val="1756972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Query: SELECT "Booster_Version" FROM SPACEXTABLE WHERE "PAYLOAD_MASS__KG_" = (SELECT MAX("PAYLOAD_MASS__KG_") FROM SPACEXTABLE);</a:t>
            </a:r>
          </a:p>
          <a:p>
            <a:pPr>
              <a:lnSpc>
                <a:spcPct val="100000"/>
              </a:lnSpc>
              <a:spcBef>
                <a:spcPts val="1400"/>
              </a:spcBef>
            </a:pPr>
            <a:r>
              <a:rPr lang="en-US" sz="2200" dirty="0">
                <a:solidFill>
                  <a:schemeClr val="accent3">
                    <a:lumMod val="25000"/>
                  </a:schemeClr>
                </a:solidFill>
                <a:latin typeface="Abadi" panose="020B0604020104020204" pitchFamily="34" charset="0"/>
              </a:rPr>
              <a:t>Result: 15,600 kg, carried repeatedly by 6 flight-proven Block 5 boosters (B1048, B1049, B1051, B1056, B1058, B1060, across their .2-.7 reflights)</a:t>
            </a:r>
          </a:p>
          <a:p>
            <a:pPr>
              <a:lnSpc>
                <a:spcPct val="100000"/>
              </a:lnSpc>
              <a:spcBef>
                <a:spcPts val="1400"/>
              </a:spcBef>
            </a:pPr>
            <a:r>
              <a:rPr lang="en-US" sz="2200" dirty="0">
                <a:solidFill>
                  <a:schemeClr val="accent3">
                    <a:lumMod val="25000"/>
                  </a:schemeClr>
                </a:solidFill>
                <a:latin typeface="Abadi" panose="020B0604020104020204" pitchFamily="34" charset="0"/>
              </a:rPr>
              <a:t>Reused boosters clearly handle SpaceX's heaviest payloads just as well as new ones — strong evidence for the reusability program's maturity.</a:t>
            </a: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Tree>
    <p:extLst>
      <p:ext uri="{BB962C8B-B14F-4D97-AF65-F5344CB8AC3E}">
        <p14:creationId xmlns:p14="http://schemas.microsoft.com/office/powerpoint/2010/main" val="356664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Query: month names + failed drone-ship landings, booster versions and launch sites for 2015</a:t>
            </a:r>
          </a:p>
          <a:p>
            <a:pPr>
              <a:lnSpc>
                <a:spcPct val="100000"/>
              </a:lnSpc>
              <a:spcBef>
                <a:spcPts val="1400"/>
              </a:spcBef>
            </a:pPr>
            <a:r>
              <a:rPr lang="en-US" sz="2200" dirty="0">
                <a:solidFill>
                  <a:schemeClr val="accent3">
                    <a:lumMod val="25000"/>
                  </a:schemeClr>
                </a:solidFill>
                <a:latin typeface="Abadi"/>
              </a:rPr>
              <a:t>Result: F9 v1.1 B1012 (CCAFS LC-40, Jan 2015) and F9 v1.1 B1015 (CCAFS LC-40, Apr 2015) — both “Failure (drone ship)”</a:t>
            </a:r>
          </a:p>
          <a:p>
            <a:pPr>
              <a:lnSpc>
                <a:spcPct val="100000"/>
              </a:lnSpc>
              <a:spcBef>
                <a:spcPts val="1400"/>
              </a:spcBef>
            </a:pPr>
            <a:r>
              <a:rPr lang="en-US" sz="2200" dirty="0">
                <a:solidFill>
                  <a:schemeClr val="accent3">
                    <a:lumMod val="25000"/>
                  </a:schemeClr>
                </a:solidFill>
                <a:latin typeface="Abadi"/>
              </a:rPr>
              <a:t>Both of 2015's drone-ship landing attempts failed — recovery was still experimental, months before the first successful ground-pad landing that December.</a:t>
            </a: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Tree>
    <p:extLst>
      <p:ext uri="{BB962C8B-B14F-4D97-AF65-F5344CB8AC3E}">
        <p14:creationId xmlns:p14="http://schemas.microsoft.com/office/powerpoint/2010/main" val="139843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Query: landing-outcome counts between 2010-06-04 and 2017-03-20, ranked descending</a:t>
            </a:r>
          </a:p>
          <a:p>
            <a:pPr>
              <a:lnSpc>
                <a:spcPct val="100000"/>
              </a:lnSpc>
              <a:spcBef>
                <a:spcPts val="1400"/>
              </a:spcBef>
            </a:pPr>
            <a:r>
              <a:rPr lang="en-US" sz="2200" dirty="0">
                <a:solidFill>
                  <a:schemeClr val="accent3">
                    <a:lumMod val="25000"/>
                  </a:schemeClr>
                </a:solidFill>
                <a:latin typeface="Abadi"/>
              </a:rPr>
              <a:t>Result: No attempt 10 · Failure (drone ship) 5 · Success (drone ship) 5 · Controlled (ocean) 3 · Success (ground pad) 3 · Failure (parachute) 2 · Uncontrolled (ocean) 2 · Precluded (drone ship) 1</a:t>
            </a:r>
          </a:p>
          <a:p>
            <a:pPr>
              <a:lnSpc>
                <a:spcPct val="100000"/>
              </a:lnSpc>
              <a:spcBef>
                <a:spcPts val="1400"/>
              </a:spcBef>
            </a:pPr>
            <a:r>
              <a:rPr lang="en-US" sz="2200" dirty="0">
                <a:solidFill>
                  <a:schemeClr val="accent3">
                    <a:lumMod val="25000"/>
                  </a:schemeClr>
                </a:solidFill>
                <a:latin typeface="Abadi"/>
              </a:rPr>
              <a:t>In SpaceX's first ~7 years, a third of launches made no recovery attempt at all, and drone-ship attempts split evenly between success and failure — landing on a moving ocean platform was the hardest, least mature part of the program.</a:t>
            </a: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Tree>
    <p:extLst>
      <p:ext uri="{BB962C8B-B14F-4D97-AF65-F5344CB8AC3E}">
        <p14:creationId xmlns:p14="http://schemas.microsoft.com/office/powerpoint/2010/main" val="3975168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35</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Added an orange Circle (1 km radius) plus a text-label Marker at each of the 4 launch-site coordinates, on a folium.Map centered on NASA Johnson Space Center</a:t>
            </a:r>
          </a:p>
          <a:p>
            <a:pPr>
              <a:lnSpc>
                <a:spcPct val="100000"/>
              </a:lnSpc>
              <a:spcBef>
                <a:spcPts val="1400"/>
              </a:spcBef>
            </a:pPr>
            <a:r>
              <a:rPr lang="en-US" sz="2200" dirty="0">
                <a:solidFill>
                  <a:schemeClr val="accent3">
                    <a:lumMod val="25000"/>
                  </a:schemeClr>
                </a:solidFill>
                <a:latin typeface="Abadi"/>
              </a:rPr>
              <a:t>All 4 sites cluster on the US Gulf/Atlantic coast (Florida) or Pacific coast (California) — confirming rockets launch near the coast, so spent stages fall over open ocean, and reasonably close to the equator for an eastward speed boost</a:t>
            </a:r>
          </a:p>
          <a:p>
            <a:pPr>
              <a:lnSpc>
                <a:spcPct val="100000"/>
              </a:lnSpc>
              <a:spcBef>
                <a:spcPts val="1400"/>
              </a:spcBef>
            </a:pPr>
            <a:r>
              <a:rPr lang="en-US" sz="2200" dirty="0">
                <a:solidFill>
                  <a:schemeClr val="accent3">
                    <a:lumMod val="25000"/>
                  </a:schemeClr>
                </a:solidFill>
                <a:latin typeface="Abadi"/>
              </a:rPr>
              <a:t>[Insert your own screenshot of the generated Folium map here, showing all 4 site markers]</a:t>
            </a:r>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Global View of All Launch Site Locations</a:t>
            </a:r>
          </a:p>
        </p:txBody>
      </p:sp>
    </p:spTree>
    <p:extLst>
      <p:ext uri="{BB962C8B-B14F-4D97-AF65-F5344CB8AC3E}">
        <p14:creationId xmlns:p14="http://schemas.microsoft.com/office/powerpoint/2010/main" val="981671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Used a MarkerCluster with one colored circle marker per launch — green for a successful landing, red for a failure — so nearby launches at the same site don't overlap</a:t>
            </a:r>
          </a:p>
          <a:p>
            <a:pPr>
              <a:lnSpc>
                <a:spcPct val="100000"/>
              </a:lnSpc>
              <a:spcBef>
                <a:spcPts val="1400"/>
              </a:spcBef>
            </a:pPr>
            <a:r>
              <a:rPr lang="en-US" sz="2200" dirty="0">
                <a:solidFill>
                  <a:schemeClr val="accent3">
                    <a:lumMod val="25000"/>
                  </a:schemeClr>
                </a:solidFill>
                <a:latin typeface="Abadi"/>
              </a:rPr>
              <a:t>KSC LC-39A and VAFB SLC-4E clusters show mostly green markers, while CCAFS SLC-40 shows a more even green/red mix, matching the 77.3%, 76.9% and 60% site success rates computed in the SQL and dashboard sections</a:t>
            </a:r>
          </a:p>
          <a:p>
            <a:pPr>
              <a:lnSpc>
                <a:spcPct val="100000"/>
              </a:lnSpc>
              <a:spcBef>
                <a:spcPts val="1400"/>
              </a:spcBef>
            </a:pPr>
            <a:r>
              <a:rPr lang="en-US" sz="2200" dirty="0">
                <a:solidFill>
                  <a:schemeClr val="accent3">
                    <a:lumMod val="25000"/>
                  </a:schemeClr>
                </a:solidFill>
                <a:latin typeface="Abadi"/>
              </a:rPr>
              <a:t>[Insert your own screenshot of the color-coded marker-cluster map here]</a:t>
            </a: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Outcomes by Site (Color-Coded Markers)</a:t>
            </a:r>
          </a:p>
        </p:txBody>
      </p:sp>
    </p:spTree>
    <p:extLst>
      <p:ext uri="{BB962C8B-B14F-4D97-AF65-F5344CB8AC3E}">
        <p14:creationId xmlns:p14="http://schemas.microsoft.com/office/powerpoint/2010/main" val="23959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690688"/>
            <a:ext cx="8597827" cy="4314825"/>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Enabled MousePosition to read off coordinates, then drew PolyLines with distance labels from CCAFS SLC-40 (28.5632°N, -80.5768°W) to the nearest coastline point, railway and highway</a:t>
            </a:r>
          </a:p>
          <a:p>
            <a:pPr>
              <a:lnSpc>
                <a:spcPct val="100000"/>
              </a:lnSpc>
              <a:spcBef>
                <a:spcPts val="1400"/>
              </a:spcBef>
            </a:pPr>
            <a:r>
              <a:rPr lang="en-US" sz="2200" dirty="0">
                <a:solidFill>
                  <a:schemeClr val="accent3">
                    <a:lumMod val="25000"/>
                  </a:schemeClr>
                </a:solidFill>
                <a:latin typeface="Abadi"/>
              </a:rPr>
              <a:t>The pad sits under 1 km from the coast (for safe over-ocean aborts) but several kilometers from the nearest city — confirming SpaceX balances easy logistics access against public-safety setback distances</a:t>
            </a:r>
          </a:p>
          <a:p>
            <a:pPr>
              <a:lnSpc>
                <a:spcPct val="100000"/>
              </a:lnSpc>
              <a:spcBef>
                <a:spcPts val="1400"/>
              </a:spcBef>
            </a:pPr>
            <a:r>
              <a:rPr lang="en-US" sz="2200" dirty="0">
                <a:solidFill>
                  <a:schemeClr val="accent3">
                    <a:lumMod val="25000"/>
                  </a:schemeClr>
                </a:solidFill>
                <a:latin typeface="Abadi"/>
              </a:rPr>
              <a:t>[Insert your own screenshot of the site-to-coastline distance markers here]</a:t>
            </a: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CCAFS SLC-40 Proximity to Coastline and Infrastructure</a:t>
            </a:r>
          </a:p>
        </p:txBody>
      </p:sp>
    </p:spTree>
    <p:extLst>
      <p:ext uri="{BB962C8B-B14F-4D97-AF65-F5344CB8AC3E}">
        <p14:creationId xmlns:p14="http://schemas.microsoft.com/office/powerpoint/2010/main" val="23249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10650000"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Pie chart with the “All Sites” dropdown selection, showing each site's share of total successful launches</a:t>
            </a:r>
          </a:p>
          <a:p>
            <a:pPr>
              <a:lnSpc>
                <a:spcPct val="100000"/>
              </a:lnSpc>
              <a:spcBef>
                <a:spcPts val="1400"/>
              </a:spcBef>
            </a:pPr>
            <a:r>
              <a:rPr lang="en-US" sz="2200" dirty="0">
                <a:solidFill>
                  <a:schemeClr val="accent3">
                    <a:lumMod val="25000"/>
                  </a:schemeClr>
                </a:solidFill>
                <a:latin typeface="Abadi"/>
              </a:rPr>
              <a:t>KSC LC-39A leads with 41.7% of all successful launches, followed by CCAFS LC-40 (29.2%), VAFB SLC-4E (16.7%) and CCAFS SLC-40 (12.5%).</a:t>
            </a: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Count by Site (All Sites)</a:t>
            </a:r>
          </a:p>
        </p:txBody>
      </p:sp>
      <p:pic>
        <p:nvPicPr>
          <p:cNvPr id="9" name="Picture 8" descr="pie.png"/>
          <p:cNvPicPr>
            <a:picLocks noChangeAspect="1"/>
          </p:cNvPicPr>
          <p:nvPr/>
        </p:nvPicPr>
        <p:blipFill>
          <a:blip r:embed="rId3"/>
          <a:stretch>
            <a:fillRect/>
          </a:stretch>
        </p:blipFill>
        <p:spPr>
          <a:xfrm>
            <a:off x="2674189" y="3489969"/>
            <a:ext cx="6783090" cy="3117866"/>
          </a:xfrm>
          <a:prstGeom prst="rect">
            <a:avLst/>
          </a:prstGeom>
        </p:spPr>
      </p:pic>
      <p:pic>
        <p:nvPicPr>
          <p:cNvPr id="4" name="Picture 3" descr="pie_2.png">
            <a:extLst>
              <a:ext uri="{FF2B5EF4-FFF2-40B4-BE49-F238E27FC236}">
                <a16:creationId xmlns:a16="http://schemas.microsoft.com/office/drawing/2014/main" id="{548060FE-CFDE-5D2C-C640-E461049E241C}"/>
              </a:ext>
            </a:extLst>
          </p:cNvPr>
          <p:cNvPicPr>
            <a:picLocks noChangeAspect="1"/>
          </p:cNvPicPr>
          <p:nvPr/>
        </p:nvPicPr>
        <p:blipFill>
          <a:blip r:embed="rId4"/>
          <a:stretch>
            <a:fillRect/>
          </a:stretch>
        </p:blipFill>
        <p:spPr>
          <a:xfrm>
            <a:off x="2587925" y="3429000"/>
            <a:ext cx="6699854" cy="3079606"/>
          </a:xfrm>
          <a:prstGeom prst="rect">
            <a:avLst/>
          </a:prstGeom>
        </p:spPr>
      </p:pic>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825625"/>
            <a:ext cx="10650000"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Pie chart after selecting KSC LC-39A — the individual site with the highest launch-success ratio</a:t>
            </a:r>
          </a:p>
          <a:p>
            <a:pPr>
              <a:lnSpc>
                <a:spcPct val="100000"/>
              </a:lnSpc>
              <a:spcBef>
                <a:spcPts val="1400"/>
              </a:spcBef>
            </a:pPr>
            <a:r>
              <a:rPr lang="en-US" sz="2200" dirty="0">
                <a:solidFill>
                  <a:schemeClr val="accent3">
                    <a:lumMod val="25000"/>
                  </a:schemeClr>
                </a:solidFill>
                <a:latin typeface="Abadi"/>
              </a:rPr>
              <a:t>76.9% of KSC LC-39A launches succeeded vs. 23.1% failed — the best ratio of any individual pad.</a:t>
            </a:r>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vs. Failure for the Top Site (KSC LC-39A)</a:t>
            </a:r>
          </a:p>
        </p:txBody>
      </p:sp>
      <p:pic>
        <p:nvPicPr>
          <p:cNvPr id="9" name="Picture 8" descr="pie_2.png"/>
          <p:cNvPicPr>
            <a:picLocks noChangeAspect="1"/>
          </p:cNvPicPr>
          <p:nvPr/>
        </p:nvPicPr>
        <p:blipFill>
          <a:blip r:embed="rId3"/>
          <a:stretch>
            <a:fillRect/>
          </a:stretch>
        </p:blipFill>
        <p:spPr>
          <a:xfrm>
            <a:off x="2587925" y="3429000"/>
            <a:ext cx="6699854" cy="3079606"/>
          </a:xfrm>
          <a:prstGeom prst="rect">
            <a:avLst/>
          </a:prstGeom>
        </p:spPr>
      </p:pic>
      <p:pic>
        <p:nvPicPr>
          <p:cNvPr id="4" name="Picture 3" descr="pie.png">
            <a:extLst>
              <a:ext uri="{FF2B5EF4-FFF2-40B4-BE49-F238E27FC236}">
                <a16:creationId xmlns:a16="http://schemas.microsoft.com/office/drawing/2014/main" id="{A4E62365-4B17-5E01-DC51-9488AE8C50B4}"/>
              </a:ext>
            </a:extLst>
          </p:cNvPr>
          <p:cNvPicPr>
            <a:picLocks noChangeAspect="1"/>
          </p:cNvPicPr>
          <p:nvPr/>
        </p:nvPicPr>
        <p:blipFill>
          <a:blip r:embed="rId4"/>
          <a:stretch>
            <a:fillRect/>
          </a:stretch>
        </p:blipFill>
        <p:spPr>
          <a:xfrm>
            <a:off x="2667482" y="3390740"/>
            <a:ext cx="6783090" cy="3117866"/>
          </a:xfrm>
          <a:prstGeom prst="rect">
            <a:avLst/>
          </a:prstGeom>
        </p:spPr>
      </p:pic>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825625"/>
            <a:ext cx="10650000"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Scatter of Payload Mass vs. launch-outcome class, colored by booster version, filtered live by the payload-mass range slider</a:t>
            </a:r>
          </a:p>
          <a:p>
            <a:pPr>
              <a:lnSpc>
                <a:spcPct val="100000"/>
              </a:lnSpc>
              <a:spcBef>
                <a:spcPts val="1400"/>
              </a:spcBef>
            </a:pPr>
            <a:r>
              <a:rPr lang="en-US" sz="2200">
                <a:solidFill>
                  <a:schemeClr val="accent3">
                    <a:lumMod val="25000"/>
                  </a:schemeClr>
                </a:solidFill>
                <a:latin typeface="Abadi" panose="020B0604020104020204" pitchFamily="34" charset="0"/>
              </a:rPr>
              <a:t>Newer FT/B4/B5 boosters land successfully far more consistently than early v1.0/v1.1 versions, across all payload levels.</a:t>
            </a: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Outcome, by Payload Range</a:t>
            </a:r>
          </a:p>
        </p:txBody>
      </p:sp>
      <p:pic>
        <p:nvPicPr>
          <p:cNvPr id="13" name="Picture 12" descr="newplot__1_.png"/>
          <p:cNvPicPr>
            <a:picLocks noChangeAspect="1"/>
          </p:cNvPicPr>
          <p:nvPr/>
        </p:nvPicPr>
        <p:blipFill>
          <a:blip r:embed="rId3"/>
          <a:stretch>
            <a:fillRect/>
          </a:stretch>
        </p:blipFill>
        <p:spPr>
          <a:xfrm>
            <a:off x="3730763" y="3975625"/>
            <a:ext cx="4730473" cy="2174375"/>
          </a:xfrm>
          <a:prstGeom prst="rect">
            <a:avLst/>
          </a:prstGeom>
        </p:spPr>
      </p:pic>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5325989" cy="381158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a:rPr>
              <a:t>Compared 4 tuned classifiers via 10-fold cross-validation: Decision Tree 87.7%, SVM 84.8%, KNN 84.8%, Logistic Regression 84.6%</a:t>
            </a:r>
            <a:endParaRPr lang="en-US" sz="220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On the 18-launch held-out test set, all 4 tuned models tied at 83.3% accuracy — Decision Tree had the edge in cross-validation and is the recommended model overall</a:t>
            </a:r>
            <a:endParaRPr lang="en-US" sz="220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10" name="Picture 9" descr="classification_accuracy.png"/>
          <p:cNvPicPr>
            <a:picLocks noChangeAspect="1"/>
          </p:cNvPicPr>
          <p:nvPr/>
        </p:nvPicPr>
        <p:blipFill>
          <a:blip r:embed="rId3"/>
          <a:stretch>
            <a:fillRect/>
          </a:stretch>
        </p:blipFill>
        <p:spPr>
          <a:xfrm>
            <a:off x="6275999" y="2270625"/>
            <a:ext cx="5566001" cy="3478750"/>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1401793"/>
            <a:ext cx="10650000"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Confusion matrix for the best test-set model (Logistic Regression) on the 18 held-out launches.</a:t>
            </a:r>
          </a:p>
          <a:p>
            <a:pPr>
              <a:lnSpc>
                <a:spcPct val="100000"/>
              </a:lnSpc>
              <a:spcBef>
                <a:spcPts val="1400"/>
              </a:spcBef>
            </a:pPr>
            <a:r>
              <a:rPr lang="en-US" sz="2200" dirty="0">
                <a:solidFill>
                  <a:schemeClr val="accent3">
                    <a:lumMod val="25000"/>
                  </a:schemeClr>
                </a:solidFill>
                <a:latin typeface="Abadi" panose="020B0604020104020204" pitchFamily="34" charset="0"/>
              </a:rPr>
              <a:t>12 true landings and 3 non-landings correctly predicted; 3 false positives; 0 false negatives.</a:t>
            </a:r>
          </a:p>
          <a:p>
            <a:pPr>
              <a:lnSpc>
                <a:spcPct val="100000"/>
              </a:lnSpc>
              <a:spcBef>
                <a:spcPts val="1400"/>
              </a:spcBef>
            </a:pPr>
            <a:r>
              <a:rPr lang="en-US" sz="2200" dirty="0">
                <a:solidFill>
                  <a:schemeClr val="accent3">
                    <a:lumMod val="25000"/>
                  </a:schemeClr>
                </a:solidFill>
                <a:latin typeface="Abadi" panose="020B0604020104020204" pitchFamily="34" charset="0"/>
              </a:rPr>
              <a:t>The model's main weakness is over-predicting successful landings.</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10" name="Picture 9" descr="confusion_matrix.png"/>
          <p:cNvPicPr>
            <a:picLocks noChangeAspect="1"/>
          </p:cNvPicPr>
          <p:nvPr/>
        </p:nvPicPr>
        <p:blipFill>
          <a:blip r:embed="rId3"/>
          <a:stretch>
            <a:fillRect/>
          </a:stretch>
        </p:blipFill>
        <p:spPr>
          <a:xfrm>
            <a:off x="3019246" y="3429000"/>
            <a:ext cx="4468482" cy="3627074"/>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253331"/>
            <a:ext cx="5903913" cy="4351338"/>
          </a:xfrm>
          <a:prstGeom prst="rect">
            <a:avLst/>
          </a:prstGeom>
        </p:spPr>
        <p:txBody>
          <a:bodyPr>
            <a:normAutofit fontScale="77500" lnSpcReduction="2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Landing success climbed from 0% (2010-2013) to ~84-90% (2019-2020) as SpaceX matured its first-stage recovery process</a:t>
            </a:r>
          </a:p>
          <a:p>
            <a:pPr>
              <a:lnSpc>
                <a:spcPct val="100000"/>
              </a:lnSpc>
              <a:spcBef>
                <a:spcPts val="1400"/>
              </a:spcBef>
            </a:pPr>
            <a:r>
              <a:rPr lang="en-US" sz="2200" dirty="0">
                <a:solidFill>
                  <a:schemeClr val="accent3">
                    <a:lumMod val="25000"/>
                  </a:schemeClr>
                </a:solidFill>
                <a:latin typeface="Abadi" panose="020B0604020104020204" pitchFamily="34" charset="0"/>
              </a:rPr>
              <a:t>Launch site, orbit type and payload mass all measurably affect landing success — KSC LC-39A and VAFB SLC-4E outperform CCAFS SLC-40, and low-demand orbits land far more reliably than GTO</a:t>
            </a:r>
          </a:p>
          <a:p>
            <a:pPr>
              <a:lnSpc>
                <a:spcPct val="100000"/>
              </a:lnSpc>
              <a:spcBef>
                <a:spcPts val="1400"/>
              </a:spcBef>
            </a:pPr>
            <a:r>
              <a:rPr lang="en-US" sz="2200" dirty="0">
                <a:solidFill>
                  <a:schemeClr val="accent3">
                    <a:lumMod val="25000"/>
                  </a:schemeClr>
                </a:solidFill>
                <a:latin typeface="Abadi" panose="020B0604020104020204" pitchFamily="34" charset="0"/>
              </a:rPr>
              <a:t>A tuned classifier (Decision Tree / Logistic Regression) predicts landing outcome with ~83-88% accuracy from pre-launch features alone (payload, orbit, site, booster, flight count)</a:t>
            </a:r>
          </a:p>
          <a:p>
            <a:pPr>
              <a:lnSpc>
                <a:spcPct val="100000"/>
              </a:lnSpc>
              <a:spcBef>
                <a:spcPts val="1400"/>
              </a:spcBef>
            </a:pPr>
            <a:r>
              <a:rPr lang="en-US" sz="2200" dirty="0">
                <a:solidFill>
                  <a:schemeClr val="accent3">
                    <a:lumMod val="25000"/>
                  </a:schemeClr>
                </a:solidFill>
                <a:latin typeface="Abadi" panose="020B0604020104020204" pitchFamily="34" charset="0"/>
              </a:rPr>
              <a:t>This means launch cost — and therefore a competing bid — can be estimated in advance with reasonable confidence, just from a mission's public profile</a:t>
            </a:r>
          </a:p>
          <a:p>
            <a:pPr>
              <a:lnSpc>
                <a:spcPct val="100000"/>
              </a:lnSpc>
              <a:spcBef>
                <a:spcPts val="1400"/>
              </a:spcBef>
            </a:pPr>
            <a:r>
              <a:rPr lang="en-US" sz="2200" dirty="0">
                <a:solidFill>
                  <a:schemeClr val="accent3">
                    <a:lumMod val="25000"/>
                  </a:schemeClr>
                </a:solidFill>
                <a:latin typeface="Abadi" panose="020B0604020104020204" pitchFamily="34" charset="0"/>
              </a:rPr>
              <a:t>Next steps: add more recent launches (the fleet is now predominantly Block 5) and booster-refurbishment-count features to sharpen the model further</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Notebooks: data collection (API), web scraping, data wrangling, EDA (SQL + visualization), interactive Folium map, Plotly Dash dashboard, and classification (Part 5) — [add your GitHub repo URL(s) here]</a:t>
            </a:r>
          </a:p>
          <a:p>
            <a:pPr>
              <a:lnSpc>
                <a:spcPct val="100000"/>
              </a:lnSpc>
              <a:spcBef>
                <a:spcPts val="1400"/>
              </a:spcBef>
            </a:pPr>
            <a:r>
              <a:rPr lang="en-US" sz="2200">
                <a:solidFill>
                  <a:schemeClr val="accent3">
                    <a:lumMod val="25000"/>
                  </a:schemeClr>
                </a:solidFill>
                <a:latin typeface="Abadi" panose="020B0604020104020204" pitchFamily="34" charset="0"/>
              </a:rPr>
              <a:t>All EDA and dashboard chart images in this deck were generated from dataset_part_2.csv (90 Falcon 9 launches, 2010-2020)</a:t>
            </a:r>
          </a:p>
          <a:p>
            <a:pPr>
              <a:lnSpc>
                <a:spcPct val="100000"/>
              </a:lnSpc>
              <a:spcBef>
                <a:spcPts val="1400"/>
              </a:spcBef>
            </a:pPr>
            <a:r>
              <a:rPr lang="en-US" sz="2200">
                <a:solidFill>
                  <a:schemeClr val="accent3">
                    <a:lumMod val="25000"/>
                  </a:schemeClr>
                </a:solidFill>
                <a:latin typeface="Abadi" panose="020B0604020104020204" pitchFamily="34" charset="0"/>
              </a:rPr>
              <a:t>The SQL queries and Python snippets referenced throughout this deck are available in the linked notebooks</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154</TotalTime>
  <Words>3318</Words>
  <Application>Microsoft Office PowerPoint</Application>
  <PresentationFormat>Widescreen</PresentationFormat>
  <Paragraphs>225</Paragraphs>
  <Slides>47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Abadi</vt:lpstr>
      <vt:lpstr>Arial</vt:lpstr>
      <vt:lpstr>Calibri</vt:lpstr>
      <vt:lpstr>IBM Plex Mono SemiBold</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Mayank Raj</cp:lastModifiedBy>
  <cp:revision>205</cp:revision>
  <dcterms:created xsi:type="dcterms:W3CDTF">2021-04-29T18:58:34Z</dcterms:created>
  <dcterms:modified xsi:type="dcterms:W3CDTF">2026-08-26T06:33:21Z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